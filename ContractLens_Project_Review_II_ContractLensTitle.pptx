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1554480" y="0"/>
            <a:ext cx="1097280" cy="2103120"/>
          </a:xfrm>
          <a:prstGeom prst="rect">
            <a:avLst/>
          </a:prstGeom>
          <a:solidFill>
            <a:srgbClr val="5F7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54480"/>
            <a:ext cx="1219169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0"/>
            <a:ext cx="1219169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77440"/>
            <a:ext cx="6858000" cy="3931920"/>
          </a:xfrm>
          <a:prstGeom prst="rect">
            <a:avLst/>
          </a:prstGeom>
          <a:noFill/>
        </p:spPr>
        <p:txBody>
          <a:bodyPr wrap="square">
            <a:spAutoFit/>
          </a:bodyPr>
          <a:lstStyle/>
          <a:p>
            <a:pPr>
              <a:spcAft>
                <a:spcPts val="1200"/>
              </a:spcAft>
              <a:defRPr sz="2300" b="1">
                <a:solidFill>
                  <a:srgbClr val="2E2820"/>
                </a:solidFill>
              </a:defRPr>
            </a:pPr>
            <a:r>
              <a:t>ContractLens: AI-Powered Legal Document Intelligence</a:t>
            </a:r>
            <a:br/>
            <a:r>
              <a:t>using RAG and Machine Learning</a:t>
            </a:r>
          </a:p>
          <a:p>
            <a:pPr>
              <a:spcAft>
                <a:spcPts val="1200"/>
              </a:spcAft>
              <a:defRPr sz="1600">
                <a:solidFill>
                  <a:srgbClr val="5A5A5A"/>
                </a:solidFill>
              </a:defRPr>
            </a:pPr>
            <a:r>
              <a:t>Project Review II</a:t>
            </a:r>
          </a:p>
          <a:p>
            <a:pPr>
              <a:spcAft>
                <a:spcPts val="1400"/>
              </a:spcAft>
              <a:defRPr sz="1500">
                <a:solidFill>
                  <a:srgbClr val="232323"/>
                </a:solidFill>
              </a:defRPr>
            </a:pPr>
            <a:r>
              <a:t>Presented by:  Prasad Desale</a:t>
            </a:r>
            <a:br/>
            <a:r>
              <a:t>                      Aryan Burhade</a:t>
            </a:r>
            <a:br/>
            <a:r>
              <a:t>                      Tanishka Kotkar</a:t>
            </a:r>
            <a:br/>
            <a:r>
              <a:t>                      Shreyas Daptare</a:t>
            </a:r>
          </a:p>
          <a:p>
            <a:pPr>
              <a:spcAft>
                <a:spcPts val="1400"/>
              </a:spcAft>
              <a:defRPr sz="1500">
                <a:solidFill>
                  <a:srgbClr val="232323"/>
                </a:solidFill>
              </a:defRPr>
            </a:pPr>
            <a:r>
              <a:t>Class : BE AI&amp;DS A</a:t>
            </a:r>
          </a:p>
          <a:p>
            <a:pPr>
              <a:defRPr sz="1500">
                <a:solidFill>
                  <a:srgbClr val="232323"/>
                </a:solidFill>
              </a:defRPr>
            </a:pPr>
            <a:r>
              <a:t>Guided by : Mrs. Pratibha Katware</a:t>
            </a:r>
          </a:p>
        </p:txBody>
      </p:sp>
      <p:sp>
        <p:nvSpPr>
          <p:cNvPr id="6" name="TextBox 5"/>
          <p:cNvSpPr txBox="1"/>
          <p:nvPr/>
        </p:nvSpPr>
        <p:spPr>
          <a:xfrm>
            <a:off x="8412480" y="365760"/>
            <a:ext cx="3474720" cy="1005840"/>
          </a:xfrm>
          <a:prstGeom prst="rect">
            <a:avLst/>
          </a:prstGeom>
          <a:noFill/>
        </p:spPr>
        <p:txBody>
          <a:bodyPr wrap="none">
            <a:spAutoFit/>
          </a:bodyPr>
          <a:lstStyle/>
          <a:p>
            <a:pPr algn="r">
              <a:defRPr sz="3200" b="1">
                <a:solidFill>
                  <a:srgbClr val="1D2667"/>
                </a:solidFill>
                <a:latin typeface="Georgia"/>
              </a:defRPr>
            </a:pPr>
            <a:r>
              <a:t>K K Wagh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INTRODUCTION</a:t>
            </a:r>
          </a:p>
        </p:txBody>
      </p:sp>
      <p:sp>
        <p:nvSpPr>
          <p:cNvPr id="4" name="TextBox 3"/>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5" name="TextBox 4"/>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2</a:t>
            </a:r>
          </a:p>
        </p:txBody>
      </p:sp>
      <p:sp>
        <p:nvSpPr>
          <p:cNvPr id="6" name="TextBox 5"/>
          <p:cNvSpPr txBox="1"/>
          <p:nvPr/>
        </p:nvSpPr>
        <p:spPr>
          <a:xfrm>
            <a:off x="731520" y="1463040"/>
            <a:ext cx="10728655" cy="4572000"/>
          </a:xfrm>
          <a:prstGeom prst="rect">
            <a:avLst/>
          </a:prstGeom>
          <a:noFill/>
        </p:spPr>
        <p:txBody>
          <a:bodyPr wrap="square">
            <a:spAutoFit/>
          </a:bodyPr>
          <a:lstStyle/>
          <a:p>
            <a:pPr>
              <a:lnSpc>
                <a:spcPct val="130000"/>
              </a:lnSpc>
              <a:defRPr sz="1700">
                <a:solidFill>
                  <a:srgbClr val="232323"/>
                </a:solidFill>
              </a:defRPr>
            </a:pPr>
            <a:r>
              <a:t>Legal contract review remains a tedious, error-prone, and time-consuming manual process, where non-lawyers and tenants often struggle to identify unfair covenants, illegal forfeiture clauses, or unconstitutional waivers hidden within lengthy legal jargon. Traditional general-purpose AI tools present significant risks of data privacy breaches and legal hallucinations when processing sensitive agreements. The project addresses these challenges by developing an automated, privacy-first legal document intelligence pipeline tailored for Indian jurisprudence (specifically Maharashtra Rent Control Act 1999, Transfer of Property Act 1882, and Indian Contract Act 1872). By integrating automated PII sanitization, intelligent clause segmentation, statutory RAG grounding, and rule-based risk scoring, we can autonomously parse, redact, and evaluate raw legal contracts, turning overwhelming legal documents into clear, actionable risk heatmaps and simplified plain-language summaries.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Implementation Status – 30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Implementation Status (Overview)</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3</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1600"/>
              </a:spcAft>
              <a:defRPr sz="1700" b="1">
                <a:solidFill>
                  <a:srgbClr val="2E2820"/>
                </a:solidFill>
              </a:defRPr>
            </a:pPr>
            <a:r>
              <a:t>Overall Progress: Core RAG pipeline, parsing, and privacy modules completed; transitioning to system benchmarking and empirical evaluation.</a:t>
            </a:r>
          </a:p>
          <a:p>
            <a:pPr>
              <a:spcAft>
                <a:spcPts val="600"/>
              </a:spcAft>
              <a:defRPr sz="1900" b="1">
                <a:solidFill>
                  <a:srgbClr val="2E2820"/>
                </a:solidFill>
              </a:defRPr>
            </a:pPr>
            <a:r>
              <a:t>Completed Core Modules</a:t>
            </a:r>
          </a:p>
          <a:p>
            <a:pPr>
              <a:spcAft>
                <a:spcPts val="400"/>
              </a:spcAft>
              <a:defRPr sz="1600">
                <a:solidFill>
                  <a:srgbClr val="232323"/>
                </a:solidFill>
              </a:defRPr>
            </a:pPr>
            <a:r>
              <a:t>• Document ingestion, section parsing, and multi-pattern PII privacy masking engine.</a:t>
            </a:r>
          </a:p>
          <a:p>
            <a:pPr>
              <a:spcAft>
                <a:spcPts val="1800"/>
              </a:spcAft>
              <a:defRPr sz="1600">
                <a:solidFill>
                  <a:srgbClr val="232323"/>
                </a:solidFill>
              </a:defRPr>
            </a:pPr>
            <a:r>
              <a:t>• Intelligent clause segmentation, 2-stage fast triage, and statutory rule-based risk engine.</a:t>
            </a:r>
          </a:p>
          <a:p>
            <a:pPr>
              <a:spcAft>
                <a:spcPts val="600"/>
              </a:spcAft>
              <a:defRPr sz="1900" b="1">
                <a:solidFill>
                  <a:srgbClr val="2E2820"/>
                </a:solidFill>
              </a:defRPr>
            </a:pPr>
            <a:r>
              <a:t>RAG Framework &amp; Parallel Processing Foundation</a:t>
            </a:r>
          </a:p>
          <a:p>
            <a:pPr>
              <a:spcAft>
                <a:spcPts val="400"/>
              </a:spcAft>
              <a:defRPr sz="1600">
                <a:solidFill>
                  <a:srgbClr val="232323"/>
                </a:solidFill>
              </a:defRPr>
            </a:pPr>
            <a:r>
              <a:t>• The architectural foundation for Retrieval-Augmented Generation (RAG) integrated with local statutory legal databases (MRCA 1999, TPA 1882, ICA 1872) is officially established.</a:t>
            </a:r>
          </a:p>
          <a:p>
            <a:pPr>
              <a:defRPr sz="1600">
                <a:solidFill>
                  <a:srgbClr val="232323"/>
                </a:solidFill>
              </a:defRPr>
            </a:pPr>
            <a:r>
              <a:t>• Multi-threaded asynchronous execution via ThreadPoolExecutor and legal score deduction constraints have been defined in the codebase.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Implementation Status – 30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Implementation Phase 1 (Parsing, Extraction &amp; Privacy Masking)</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4</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Document Ingestion &amp; Multi-Format Parsing</a:t>
            </a:r>
          </a:p>
          <a:p>
            <a:pPr>
              <a:spcAft>
                <a:spcPts val="1600"/>
              </a:spcAft>
              <a:defRPr sz="1600">
                <a:solidFill>
                  <a:srgbClr val="232323"/>
                </a:solidFill>
              </a:defRPr>
            </a:pPr>
            <a:r>
              <a:t>• Built robust PDF, DOCX, and TXT parsing pipelines using pdfplumber and pypdf with structural heading detection for multi-page agreements.</a:t>
            </a:r>
          </a:p>
          <a:p>
            <a:pPr>
              <a:spcAft>
                <a:spcPts val="400"/>
              </a:spcAft>
              <a:defRPr sz="1900" b="1">
                <a:solidFill>
                  <a:srgbClr val="2E2820"/>
                </a:solidFill>
              </a:defRPr>
            </a:pPr>
            <a:r>
              <a:t>Contextual PII Sanitization Engine</a:t>
            </a:r>
          </a:p>
          <a:p>
            <a:pPr>
              <a:spcAft>
                <a:spcPts val="1600"/>
              </a:spcAft>
              <a:defRPr sz="1600">
                <a:solidFill>
                  <a:srgbClr val="232323"/>
                </a:solidFill>
              </a:defRPr>
            </a:pPr>
            <a:r>
              <a:t>• Implemented regex and contextual entity redactors to mask sensitive PII (PAN, Aadhaar, emails, phones, bank accounts, and party names) prior to external processing.</a:t>
            </a:r>
          </a:p>
          <a:p>
            <a:pPr>
              <a:spcAft>
                <a:spcPts val="400"/>
              </a:spcAft>
              <a:defRPr sz="1900" b="1">
                <a:solidFill>
                  <a:srgbClr val="2E2820"/>
                </a:solidFill>
              </a:defRPr>
            </a:pPr>
            <a:r>
              <a:t>Legal Metric Preservation</a:t>
            </a:r>
          </a:p>
          <a:p>
            <a:pPr>
              <a:defRPr sz="1600">
                <a:solidFill>
                  <a:srgbClr val="232323"/>
                </a:solidFill>
              </a:defRPr>
            </a:pPr>
            <a:r>
              <a:t>• Resolved potential data distortion by creating an extraction safe-list that isolates monetary figures, dates, percentages, and notice periods from being mistakenly masked.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Implementation Status – 30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Implementation Phase 2 (Clause Segmentation &amp; RAG Risk Engine)</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5</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Clause Segmentation &amp; Fast Triage</a:t>
            </a:r>
          </a:p>
          <a:p>
            <a:pPr>
              <a:spcAft>
                <a:spcPts val="1600"/>
              </a:spcAft>
              <a:defRPr sz="1600">
                <a:solidFill>
                  <a:srgbClr val="232323"/>
                </a:solidFill>
              </a:defRPr>
            </a:pPr>
            <a:r>
              <a:t>• Implemented regular expression clause boundary detection combined with Stage-1 keyword triage to separate routine clauses from high-risk provisions.</a:t>
            </a:r>
          </a:p>
          <a:p>
            <a:pPr>
              <a:spcAft>
                <a:spcPts val="400"/>
              </a:spcAft>
              <a:defRPr sz="1900" b="1">
                <a:solidFill>
                  <a:srgbClr val="2E2820"/>
                </a:solidFill>
              </a:defRPr>
            </a:pPr>
            <a:r>
              <a:t>Statutory Legal Knowledge Base Retrieval</a:t>
            </a:r>
          </a:p>
          <a:p>
            <a:pPr>
              <a:spcAft>
                <a:spcPts val="1600"/>
              </a:spcAft>
              <a:defRPr sz="1600">
                <a:solidFill>
                  <a:srgbClr val="232323"/>
                </a:solidFill>
              </a:defRPr>
            </a:pPr>
            <a:r>
              <a:t>• Integrated local vector-less/keyword legal retrieval against indexed Maharashtra tenancy statutes, retrieving relevant sections with &lt;5ms latency.</a:t>
            </a:r>
          </a:p>
          <a:p>
            <a:pPr>
              <a:spcAft>
                <a:spcPts val="400"/>
              </a:spcAft>
              <a:defRPr sz="1900" b="1">
                <a:solidFill>
                  <a:srgbClr val="2E2820"/>
                </a:solidFill>
              </a:defRPr>
            </a:pPr>
            <a:r>
              <a:t>Statutory Risk Classification &amp; Health Scoring</a:t>
            </a:r>
          </a:p>
          <a:p>
            <a:pPr>
              <a:defRPr sz="1600">
                <a:solidFill>
                  <a:srgbClr val="232323"/>
                </a:solidFill>
              </a:defRPr>
            </a:pPr>
            <a:r>
              <a:t>• Built a 4-tier risk classification engine (Critical, High, Medium, Low) enforcing legal score deductions (-20 for unlawful utility cutoffs, -10 for daily penalties) to compute overall Contract Health Scores.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Experimental Setup/Simulation – 10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Experimental Setup &amp; Datasets</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6</a:t>
            </a:r>
          </a:p>
        </p:txBody>
      </p:sp>
      <p:sp>
        <p:nvSpPr>
          <p:cNvPr id="7" name="TextBox 6"/>
          <p:cNvSpPr txBox="1"/>
          <p:nvPr/>
        </p:nvSpPr>
        <p:spPr>
          <a:xfrm>
            <a:off x="731520" y="1463040"/>
            <a:ext cx="10728655" cy="4572000"/>
          </a:xfrm>
          <a:prstGeom prst="rect">
            <a:avLst/>
          </a:prstGeom>
          <a:noFill/>
        </p:spPr>
        <p:txBody>
          <a:bodyPr wrap="square">
            <a:spAutoFit/>
          </a:bodyPr>
          <a:lstStyle/>
          <a:p>
            <a:pPr>
              <a:spcAft>
                <a:spcPts val="1400"/>
              </a:spcAft>
              <a:defRPr sz="1600">
                <a:solidFill>
                  <a:srgbClr val="232323"/>
                </a:solidFill>
              </a:defRPr>
            </a:pPr>
            <a:r>
              <a:t>• Dataset: Structured database of Indian legal statutes (Maharashtra Rent Control Act 1999, Transfer of Property Act 1882, Indian Contract Act 1872) &amp; real-world rental agreements / commercial contracts.</a:t>
            </a:r>
          </a:p>
          <a:p>
            <a:pPr>
              <a:spcAft>
                <a:spcPts val="1400"/>
              </a:spcAft>
              <a:defRPr sz="1600">
                <a:solidFill>
                  <a:srgbClr val="232323"/>
                </a:solidFill>
              </a:defRPr>
            </a:pPr>
            <a:r>
              <a:t>• Data Scale: Multi-page legal PDF/DOCX agreements (ranging from 10 to 50+ pages), containing 50+ distinct clauses, complex tabular data, and full legal databases.</a:t>
            </a:r>
          </a:p>
          <a:p>
            <a:pPr>
              <a:spcAft>
                <a:spcPts val="1400"/>
              </a:spcAft>
              <a:defRPr sz="1600">
                <a:solidFill>
                  <a:srgbClr val="232323"/>
                </a:solidFill>
              </a:defRPr>
            </a:pPr>
            <a:r>
              <a:t>• Environment: Python 3.11 executing with FastAPI backend, Scikit-Learn, PyPDF/pdfplumber, SQLite database, and React.js / Vite frontend interface.</a:t>
            </a:r>
          </a:p>
          <a:p>
            <a:pPr>
              <a:defRPr sz="1600">
                <a:solidFill>
                  <a:srgbClr val="232323"/>
                </a:solidFill>
              </a:defRPr>
            </a:pPr>
            <a:r>
              <a:t>• Simulation Target: Transitioning from manual legal contract review to an automated, end-to-end RAG intelligence pipeline where privacy-masked clauses are evaluated asynchronously against statutory laws.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Efficiency Issues &amp; Performance Parameters – 10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Efficiency Issues &amp; Performance Optimization</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7</a:t>
            </a:r>
          </a:p>
        </p:txBody>
      </p:sp>
      <p:sp>
        <p:nvSpPr>
          <p:cNvPr id="7" name="TextBox 6"/>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Efficiency Challenge 1 (Privacy &amp; Latency)</a:t>
            </a:r>
          </a:p>
          <a:p>
            <a:pPr>
              <a:spcAft>
                <a:spcPts val="400"/>
              </a:spcAft>
              <a:defRPr sz="1600">
                <a:solidFill>
                  <a:srgbClr val="232323"/>
                </a:solidFill>
              </a:defRPr>
            </a:pPr>
            <a:r>
              <a:t>• Attempting to send unredacted, full-length contract text directly to LLM APIs led to severe latency, API token limit exhaustion, and potential personal data exposure.</a:t>
            </a:r>
          </a:p>
          <a:p>
            <a:pPr>
              <a:spcAft>
                <a:spcPts val="1800"/>
              </a:spcAft>
              <a:defRPr sz="1600">
                <a:solidFill>
                  <a:srgbClr val="232323"/>
                </a:solidFill>
              </a:defRPr>
            </a:pPr>
            <a:r>
              <a:t>• Solution: Engineered a 2-stage processing architecture: in-memory PII redactor anonymizes data locally, while a Stage-1 triage filters routine clauses, passing only flagged clauses to the RAG pipeline.</a:t>
            </a:r>
          </a:p>
          <a:p>
            <a:pPr>
              <a:spcAft>
                <a:spcPts val="400"/>
              </a:spcAft>
              <a:defRPr sz="1900" b="1">
                <a:solidFill>
                  <a:srgbClr val="2E2820"/>
                </a:solidFill>
              </a:defRPr>
            </a:pPr>
            <a:r>
              <a:t>Efficiency Challenge 2 (Compute / Response Time)</a:t>
            </a:r>
          </a:p>
          <a:p>
            <a:pPr>
              <a:spcAft>
                <a:spcPts val="400"/>
              </a:spcAft>
              <a:defRPr sz="1600">
                <a:solidFill>
                  <a:srgbClr val="232323"/>
                </a:solidFill>
              </a:defRPr>
            </a:pPr>
            <a:r>
              <a:t>• Sequential LLM/RAG evaluation of 50+ individual clauses in large legal agreements caused extreme processing delay (&gt;60 seconds per document).</a:t>
            </a:r>
          </a:p>
          <a:p>
            <a:pPr>
              <a:defRPr sz="1600">
                <a:solidFill>
                  <a:srgbClr val="232323"/>
                </a:solidFill>
              </a:defRPr>
            </a:pPr>
            <a:r>
              <a:t>• Solution: Implemented Python ThreadPoolExecutor (configured with 8 parallel worker threads) to execute concurrent clause analysis, cutting overall contract processing time down to under 5 seconds.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24128"/>
            <a:ext cx="9144000" cy="365760"/>
          </a:xfrm>
          <a:prstGeom prst="rect">
            <a:avLst/>
          </a:prstGeom>
          <a:noFill/>
        </p:spPr>
        <p:txBody>
          <a:bodyPr wrap="square">
            <a:spAutoFit/>
          </a:bodyPr>
          <a:lstStyle/>
          <a:p>
            <a:pPr>
              <a:defRPr sz="1100" i="1">
                <a:solidFill>
                  <a:srgbClr val="646464"/>
                </a:solidFill>
              </a:defRPr>
            </a:pPr>
            <a:r>
              <a:t>(Maps to: Tools and Techniques used – 10 Marks)</a:t>
            </a:r>
          </a:p>
        </p:txBody>
      </p:sp>
      <p:sp>
        <p:nvSpPr>
          <p:cNvPr id="4" name="TextBox 3"/>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Tools and Techniques Used</a:t>
            </a:r>
          </a:p>
        </p:txBody>
      </p:sp>
      <p:sp>
        <p:nvSpPr>
          <p:cNvPr id="5" name="TextBox 4"/>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6" name="TextBox 5"/>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8</a:t>
            </a:r>
          </a:p>
        </p:txBody>
      </p:sp>
      <p:sp>
        <p:nvSpPr>
          <p:cNvPr id="7" name="TextBox 6"/>
          <p:cNvSpPr txBox="1"/>
          <p:nvPr/>
        </p:nvSpPr>
        <p:spPr>
          <a:xfrm>
            <a:off x="731520" y="1463040"/>
            <a:ext cx="10728655" cy="4572000"/>
          </a:xfrm>
          <a:prstGeom prst="rect">
            <a:avLst/>
          </a:prstGeom>
          <a:noFill/>
        </p:spPr>
        <p:txBody>
          <a:bodyPr wrap="square">
            <a:spAutoFit/>
          </a:bodyPr>
          <a:lstStyle/>
          <a:p>
            <a:pPr>
              <a:spcAft>
                <a:spcPts val="1200"/>
              </a:spcAft>
              <a:defRPr sz="1600">
                <a:solidFill>
                  <a:srgbClr val="232323"/>
                </a:solidFill>
              </a:defRPr>
            </a:pPr>
            <a:r>
              <a:t>• Document Parsing &amp; Ingestion: pdfplumber, pypdf, python-docx, xml.etree.ElementTree, Regex structural splitters.</a:t>
            </a:r>
          </a:p>
          <a:p>
            <a:pPr>
              <a:spcAft>
                <a:spcPts val="1200"/>
              </a:spcAft>
              <a:defRPr sz="1600">
                <a:solidFill>
                  <a:srgbClr val="232323"/>
                </a:solidFill>
              </a:defRPr>
            </a:pPr>
            <a:r>
              <a:t>• Privacy &amp; Data Security: Custom Rule-based PII Masker (Automated redaction of PAN, Aadhaar, IFSC, Phone, Email, Organizations).</a:t>
            </a:r>
          </a:p>
          <a:p>
            <a:pPr>
              <a:spcAft>
                <a:spcPts val="1200"/>
              </a:spcAft>
              <a:defRPr sz="1600">
                <a:solidFill>
                  <a:srgbClr val="232323"/>
                </a:solidFill>
              </a:defRPr>
            </a:pPr>
            <a:r>
              <a:t>• RAG &amp; Information Retrieval: Local Legal Knowledge Base (maharashtra_rental_laws.json) with keyword-scoring IR algorithm &amp; Google Gemini Flash LLM.</a:t>
            </a:r>
          </a:p>
          <a:p>
            <a:pPr>
              <a:spcAft>
                <a:spcPts val="1200"/>
              </a:spcAft>
              <a:defRPr sz="1600">
                <a:solidFill>
                  <a:srgbClr val="232323"/>
                </a:solidFill>
              </a:defRPr>
            </a:pPr>
            <a:r>
              <a:t>• Parallel Processing &amp; Web Stack: FastAPI framework, Python asyncio &amp; ThreadPoolExecutor (8 workers), SQLite / SQLAlchemy ORM, React + Vite UI.</a:t>
            </a:r>
          </a:p>
          <a:p>
            <a:pPr>
              <a:defRPr sz="1600">
                <a:solidFill>
                  <a:srgbClr val="232323"/>
                </a:solidFill>
              </a:defRPr>
            </a:pPr>
            <a:r>
              <a:t>• Algorithms &amp; Logic: 2-Stage Clause Triage Algorithm, Rule-based Risk Deduction Engine (-20 Critical, -10 High, -4 Medium), Contract Health Score Formula.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BF5"/>
        </a:solidFill>
        <a:effectLst/>
      </p:bgPr>
    </p:bg>
    <p:spTree>
      <p:nvGrpSpPr>
        <p:cNvPr id="1" name=""/>
        <p:cNvGrpSpPr/>
        <p:nvPr/>
      </p:nvGrpSpPr>
      <p:grpSpPr/>
      <p:sp>
        <p:nvSpPr>
          <p:cNvPr id="2" name="Rectangle 1"/>
          <p:cNvSpPr/>
          <p:nvPr/>
        </p:nvSpPr>
        <p:spPr>
          <a:xfrm>
            <a:off x="731520" y="1005840"/>
            <a:ext cx="10728655" cy="18288"/>
          </a:xfrm>
          <a:prstGeom prst="rect">
            <a:avLst/>
          </a:prstGeom>
          <a:solidFill>
            <a:srgbClr val="3E352B"/>
          </a:solidFill>
          <a:ln>
            <a:solidFill>
              <a:srgbClr val="3E35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9144000" cy="685800"/>
          </a:xfrm>
          <a:prstGeom prst="rect">
            <a:avLst/>
          </a:prstGeom>
          <a:noFill/>
        </p:spPr>
        <p:txBody>
          <a:bodyPr wrap="square">
            <a:spAutoFit/>
          </a:bodyPr>
          <a:lstStyle/>
          <a:p>
            <a:pPr>
              <a:defRPr sz="2600" b="1">
                <a:solidFill>
                  <a:srgbClr val="2E2820"/>
                </a:solidFill>
                <a:latin typeface="Calibri"/>
              </a:defRPr>
            </a:pPr>
            <a:r>
              <a:t>Next Steps &amp; Evaluation Phase (Pending Tasks)</a:t>
            </a:r>
          </a:p>
        </p:txBody>
      </p:sp>
      <p:sp>
        <p:nvSpPr>
          <p:cNvPr id="4" name="TextBox 3"/>
          <p:cNvSpPr txBox="1"/>
          <p:nvPr/>
        </p:nvSpPr>
        <p:spPr>
          <a:xfrm>
            <a:off x="9875520" y="182880"/>
            <a:ext cx="2011680" cy="822960"/>
          </a:xfrm>
          <a:prstGeom prst="rect">
            <a:avLst/>
          </a:prstGeom>
          <a:noFill/>
        </p:spPr>
        <p:txBody>
          <a:bodyPr wrap="none">
            <a:spAutoFit/>
          </a:bodyPr>
          <a:lstStyle/>
          <a:p>
            <a:pPr algn="r">
              <a:defRPr sz="2200" b="1">
                <a:solidFill>
                  <a:srgbClr val="1D2667"/>
                </a:solidFill>
                <a:latin typeface="Georgia"/>
              </a:defRPr>
            </a:pPr>
            <a:r>
              <a:t>K K Wagh</a:t>
            </a:r>
          </a:p>
        </p:txBody>
      </p:sp>
      <p:sp>
        <p:nvSpPr>
          <p:cNvPr id="5" name="TextBox 4"/>
          <p:cNvSpPr txBox="1"/>
          <p:nvPr/>
        </p:nvSpPr>
        <p:spPr>
          <a:xfrm>
            <a:off x="731520" y="6400800"/>
            <a:ext cx="10728655" cy="365760"/>
          </a:xfrm>
          <a:prstGeom prst="rect">
            <a:avLst/>
          </a:prstGeom>
          <a:noFill/>
        </p:spPr>
        <p:txBody>
          <a:bodyPr wrap="none">
            <a:spAutoFit/>
          </a:bodyPr>
          <a:lstStyle/>
          <a:p>
            <a:r>
              <a:rPr sz="1000">
                <a:solidFill>
                  <a:srgbClr val="646464"/>
                </a:solidFill>
              </a:rPr>
              <a:t>08/08/2026          </a:t>
            </a:r>
            <a:r>
              <a:rPr sz="1000" b="1">
                <a:solidFill>
                  <a:srgbClr val="232323"/>
                </a:solidFill>
              </a:rPr>
              <a:t>ContractLens: AI-Powered Legal Document Intelligence Platform</a:t>
            </a:r>
            <a:r>
              <a:rPr sz="1000">
                <a:solidFill>
                  <a:srgbClr val="646464"/>
                </a:solidFill>
              </a:rPr>
              <a:t>          9</a:t>
            </a:r>
          </a:p>
        </p:txBody>
      </p:sp>
      <p:sp>
        <p:nvSpPr>
          <p:cNvPr id="6" name="TextBox 5"/>
          <p:cNvSpPr txBox="1"/>
          <p:nvPr/>
        </p:nvSpPr>
        <p:spPr>
          <a:xfrm>
            <a:off x="731520" y="1371600"/>
            <a:ext cx="10728655" cy="4754880"/>
          </a:xfrm>
          <a:prstGeom prst="rect">
            <a:avLst/>
          </a:prstGeom>
          <a:noFill/>
        </p:spPr>
        <p:txBody>
          <a:bodyPr wrap="square">
            <a:spAutoFit/>
          </a:bodyPr>
          <a:lstStyle/>
          <a:p>
            <a:pPr>
              <a:spcAft>
                <a:spcPts val="400"/>
              </a:spcAft>
              <a:defRPr sz="1900" b="1">
                <a:solidFill>
                  <a:srgbClr val="2E2820"/>
                </a:solidFill>
              </a:defRPr>
            </a:pPr>
            <a:r>
              <a:t>Comprehensive Evaluation &amp; Benchmarking (Pending)</a:t>
            </a:r>
          </a:p>
          <a:p>
            <a:pPr>
              <a:spcAft>
                <a:spcPts val="400"/>
              </a:spcAft>
              <a:defRPr sz="1600">
                <a:solidFill>
                  <a:srgbClr val="232323"/>
                </a:solidFill>
              </a:defRPr>
            </a:pPr>
            <a:r>
              <a:t>• Conduct empirical accuracy, precision, and recall evaluation of the RAG risk classifier against a benchmarked dataset of human-annotated legal contracts.</a:t>
            </a:r>
          </a:p>
          <a:p>
            <a:pPr>
              <a:spcAft>
                <a:spcPts val="1600"/>
              </a:spcAft>
              <a:defRPr sz="1600">
                <a:solidFill>
                  <a:srgbClr val="232323"/>
                </a:solidFill>
              </a:defRPr>
            </a:pPr>
            <a:r>
              <a:t>• Execute stress testing and throughput benchmarking across large-scale 50+ page legal documents to analyze ThreadPool scaling and API rate limit stability.</a:t>
            </a:r>
          </a:p>
          <a:p>
            <a:pPr>
              <a:spcAft>
                <a:spcPts val="400"/>
              </a:spcAft>
              <a:defRPr sz="1900" b="1">
                <a:solidFill>
                  <a:srgbClr val="2E2820"/>
                </a:solidFill>
              </a:defRPr>
            </a:pPr>
            <a:r>
              <a:t>Multi-Jurisdiction &amp; Language Expansion (Pending)</a:t>
            </a:r>
          </a:p>
          <a:p>
            <a:pPr>
              <a:spcAft>
                <a:spcPts val="1600"/>
              </a:spcAft>
              <a:defRPr sz="1600">
                <a:solidFill>
                  <a:srgbClr val="232323"/>
                </a:solidFill>
              </a:defRPr>
            </a:pPr>
            <a:r>
              <a:t>• Expand the statutory legal database to cover additional Indian state rent control acts (e.g., Delhi, Karnataka) and validate multi-lingual translation accuracy (Hindi, Marathi).</a:t>
            </a:r>
          </a:p>
          <a:p>
            <a:pPr>
              <a:spcAft>
                <a:spcPts val="400"/>
              </a:spcAft>
              <a:defRPr sz="1900" b="1">
                <a:solidFill>
                  <a:srgbClr val="2E2820"/>
                </a:solidFill>
              </a:defRPr>
            </a:pPr>
            <a:r>
              <a:t>User Acceptance Testing &amp; Final Documentation (Pending)</a:t>
            </a:r>
          </a:p>
          <a:p>
            <a:pPr>
              <a:defRPr sz="1600">
                <a:solidFill>
                  <a:srgbClr val="232323"/>
                </a:solidFill>
              </a:defRPr>
            </a:pPr>
            <a:r>
              <a:t>• Perform UI/UX usability testing with legal practitioners and tenants, followed by completing final scientific validation reports and project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